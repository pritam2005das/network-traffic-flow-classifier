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57" r:id="rId5"/>
    <p:sldId id="259" r:id="rId6"/>
    <p:sldId id="260" r:id="rId7"/>
    <p:sldId id="273" r:id="rId8"/>
    <p:sldId id="274" r:id="rId9"/>
    <p:sldId id="275" r:id="rId10"/>
    <p:sldId id="261" r:id="rId11"/>
    <p:sldId id="270" r:id="rId12"/>
    <p:sldId id="271" r:id="rId13"/>
    <p:sldId id="272" r:id="rId14"/>
    <p:sldId id="264" r:id="rId15"/>
    <p:sldId id="265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33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03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8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894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6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08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72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43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3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32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5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968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66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84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4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FC51-379C-4A02-9747-E143B9C1060D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2970DC5-797B-43BD-994B-B188F5535C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96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forms.gle/1m38TfB8Xrh8kcYDA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D36D-4773-4569-3253-E339E2AC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Network Tr</a:t>
            </a:r>
            <a:r>
              <a:rPr lang="en-IN" sz="4800" dirty="0" err="1"/>
              <a:t>affic</a:t>
            </a:r>
            <a:r>
              <a:rPr lang="en-IN" sz="4800" dirty="0"/>
              <a:t> Flow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64692-47BD-ACAA-440E-07BE764C0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Pritam Das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13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7F9E39-5B98-EE54-7900-57F78A5A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82A9C-B047-33A8-6067-069457EF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256743"/>
            <a:ext cx="7188095" cy="576262"/>
          </a:xfrm>
        </p:spPr>
        <p:txBody>
          <a:bodyPr/>
          <a:lstStyle/>
          <a:p>
            <a:r>
              <a:rPr lang="en-US" b="1" dirty="0"/>
              <a:t>Title</a:t>
            </a:r>
            <a:endParaRPr lang="en-IN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FB938-D19C-1666-8183-B87194A98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930400"/>
            <a:ext cx="7188095" cy="4521200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/>
              <a:t>Objective</a:t>
            </a:r>
          </a:p>
          <a:p>
            <a:pPr marL="0" indent="0" fontAlgn="base">
              <a:buNone/>
            </a:pPr>
            <a:r>
              <a:rPr lang="en-US" dirty="0"/>
              <a:t>Data Source</a:t>
            </a:r>
          </a:p>
          <a:p>
            <a:pPr marL="0" indent="0" fontAlgn="base">
              <a:buNone/>
            </a:pPr>
            <a:r>
              <a:rPr lang="en-US" dirty="0"/>
              <a:t>Technologies used</a:t>
            </a:r>
          </a:p>
          <a:p>
            <a:pPr marL="0" indent="0" fontAlgn="base">
              <a:buNone/>
            </a:pPr>
            <a:r>
              <a:rPr lang="en-US" dirty="0"/>
              <a:t>Methodology</a:t>
            </a:r>
          </a:p>
          <a:p>
            <a:pPr marL="0" indent="0" fontAlgn="base">
              <a:buNone/>
            </a:pPr>
            <a:r>
              <a:rPr lang="en-US" dirty="0"/>
              <a:t>Machine Learning Model Performance</a:t>
            </a:r>
          </a:p>
          <a:p>
            <a:pPr marL="0" indent="0" fontAlgn="base">
              <a:buNone/>
            </a:pPr>
            <a:r>
              <a:rPr lang="en-US" dirty="0"/>
              <a:t>Machine Learning Model Performance Comparison</a:t>
            </a:r>
          </a:p>
          <a:p>
            <a:pPr marL="0" indent="0" fontAlgn="base">
              <a:buNone/>
            </a:pPr>
            <a:r>
              <a:rPr lang="en-US" dirty="0"/>
              <a:t>Most Important Features by AdaBoost</a:t>
            </a:r>
          </a:p>
          <a:p>
            <a:pPr marL="0" indent="0" fontAlgn="base">
              <a:buNone/>
            </a:pPr>
            <a:r>
              <a:rPr lang="en-US" dirty="0"/>
              <a:t>Model performance</a:t>
            </a:r>
          </a:p>
          <a:p>
            <a:pPr marL="0" indent="0" fontAlgn="base">
              <a:buNone/>
            </a:pPr>
            <a:r>
              <a:rPr lang="en-US" dirty="0"/>
              <a:t>Confusion Matrix</a:t>
            </a:r>
          </a:p>
          <a:p>
            <a:pPr marL="0" indent="0" fontAlgn="base">
              <a:buNone/>
            </a:pPr>
            <a:r>
              <a:rPr lang="en-US" dirty="0"/>
              <a:t>ROC Curve and AUC Score</a:t>
            </a:r>
          </a:p>
          <a:p>
            <a:pPr marL="0" indent="0" fontAlgn="base">
              <a:buNone/>
            </a:pPr>
            <a:r>
              <a:rPr lang="en-US" dirty="0"/>
              <a:t>Overfitting and Underfitting Comparison</a:t>
            </a:r>
          </a:p>
          <a:p>
            <a:pPr marL="0" indent="0" fontAlgn="base">
              <a:buNone/>
            </a:pPr>
            <a:r>
              <a:rPr lang="en-US" dirty="0"/>
              <a:t>Conclusion</a:t>
            </a:r>
          </a:p>
          <a:p>
            <a:pPr marL="0" indent="0" fontAlgn="base">
              <a:buNone/>
            </a:pPr>
            <a:r>
              <a:rPr lang="en-US" dirty="0"/>
              <a:t>Future scope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64C276-8CA1-8F35-4A05-782A30B5F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34960" y="1256743"/>
            <a:ext cx="1339041" cy="576262"/>
          </a:xfrm>
        </p:spPr>
        <p:txBody>
          <a:bodyPr/>
          <a:lstStyle/>
          <a:p>
            <a:r>
              <a:rPr lang="en-US" b="1" dirty="0"/>
              <a:t>Slide No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721573-7575-9154-D4F7-2EA7F16FB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34961" y="1930400"/>
            <a:ext cx="1339041" cy="4521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3</a:t>
            </a:r>
          </a:p>
          <a:p>
            <a:pPr marL="0" indent="0">
              <a:buNone/>
            </a:pPr>
            <a:r>
              <a:rPr lang="en-US" dirty="0"/>
              <a:t>4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6</a:t>
            </a:r>
          </a:p>
          <a:p>
            <a:pPr marL="0" indent="0">
              <a:buNone/>
            </a:pPr>
            <a:r>
              <a:rPr lang="en-US" dirty="0"/>
              <a:t>7</a:t>
            </a:r>
          </a:p>
          <a:p>
            <a:pPr marL="0" indent="0">
              <a:buNone/>
            </a:pPr>
            <a:r>
              <a:rPr lang="en-US" dirty="0"/>
              <a:t>8</a:t>
            </a:r>
          </a:p>
          <a:p>
            <a:pPr marL="0" indent="0">
              <a:buNone/>
            </a:pPr>
            <a:r>
              <a:rPr lang="en-US" dirty="0"/>
              <a:t>9</a:t>
            </a:r>
          </a:p>
          <a:p>
            <a:pPr marL="0" indent="0">
              <a:buNone/>
            </a:pPr>
            <a:r>
              <a:rPr lang="en-US" dirty="0"/>
              <a:t>10</a:t>
            </a:r>
          </a:p>
          <a:p>
            <a:pPr marL="0" indent="0">
              <a:buNone/>
            </a:pPr>
            <a:r>
              <a:rPr lang="en-US" dirty="0"/>
              <a:t>11</a:t>
            </a:r>
          </a:p>
          <a:p>
            <a:pPr marL="0" indent="0">
              <a:buNone/>
            </a:pPr>
            <a:r>
              <a:rPr lang="en-US" dirty="0"/>
              <a:t>12</a:t>
            </a:r>
          </a:p>
          <a:p>
            <a:pPr marL="0" indent="0">
              <a:buNone/>
            </a:pPr>
            <a:r>
              <a:rPr lang="en-US" dirty="0"/>
              <a:t>13</a:t>
            </a:r>
          </a:p>
          <a:p>
            <a:pPr marL="0" indent="0">
              <a:buNone/>
            </a:pPr>
            <a:r>
              <a:rPr lang="en-US" dirty="0"/>
              <a:t>14</a:t>
            </a:r>
          </a:p>
          <a:p>
            <a:pPr marL="0" indent="0">
              <a:buNone/>
            </a:pPr>
            <a:r>
              <a:rPr lang="en-US" dirty="0"/>
              <a:t>15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1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2704E8E-7AC2-1E22-A596-ED38F3E3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AC1381-A3B7-84AB-17A4-F1E78FFA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a machine learning model to accurately classify network traffic into normal and various attack categories</a:t>
            </a:r>
          </a:p>
          <a:p>
            <a:r>
              <a:rPr lang="en-US" dirty="0"/>
              <a:t>Analyze network flow data based on packet-level features, protocol behavior, traffic duration, and statistical indicators</a:t>
            </a:r>
          </a:p>
          <a:p>
            <a:r>
              <a:rPr lang="en-US" dirty="0"/>
              <a:t>Uncover hidden patterns and key features contributing to malicious activities and intrusion attempts</a:t>
            </a:r>
          </a:p>
          <a:p>
            <a:r>
              <a:rPr lang="en-US" dirty="0"/>
              <a:t>Support cybersecurity teams and network administrators in designing proactive threat detection and mitigation strategies</a:t>
            </a:r>
          </a:p>
          <a:p>
            <a:r>
              <a:rPr lang="en-US" dirty="0"/>
              <a:t>Promote data-driven security decision-making to strengthen organizational network protection and optimize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336608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4B81-6873-B917-DA4E-E2AD2649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8C2E-7364-02A1-2D61-8C384948B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Dataset:</a:t>
            </a:r>
          </a:p>
          <a:p>
            <a:pPr marL="400050" lvl="1" indent="0">
              <a:buNone/>
            </a:pPr>
            <a:r>
              <a:rPr lang="en-IN" b="1" dirty="0"/>
              <a:t>DDos.pcap_ISCX.</a:t>
            </a:r>
            <a:r>
              <a:rPr lang="en-US" b="1" dirty="0"/>
              <a:t>csv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Contains network traffic flow records like:</a:t>
            </a:r>
          </a:p>
          <a:p>
            <a:pPr lvl="1"/>
            <a:r>
              <a:rPr lang="en-US" dirty="0"/>
              <a:t>Incident details such as flow duration, timestamp, and total packets transmitted</a:t>
            </a:r>
          </a:p>
          <a:p>
            <a:pPr lvl="1"/>
            <a:r>
              <a:rPr lang="en-US" dirty="0"/>
              <a:t>Network-level information including source IP, destination IP, source port, destination port, and protocol type</a:t>
            </a:r>
          </a:p>
          <a:p>
            <a:pPr lvl="1"/>
            <a:r>
              <a:rPr lang="en-US" dirty="0"/>
              <a:t>Traffic behavior features such as total forward packets, total backward packets, packet length statistics, and flow bytes per second</a:t>
            </a:r>
          </a:p>
          <a:p>
            <a:pPr lvl="1"/>
            <a:r>
              <a:rPr lang="en-US" dirty="0"/>
              <a:t>Statistical flow-based features including mean packet size, inter-arrival time, header length, and flag counts</a:t>
            </a:r>
          </a:p>
          <a:p>
            <a:pPr lvl="1"/>
            <a:r>
              <a:rPr lang="en-US" dirty="0"/>
              <a:t>Attack classification details including traffic label (Benign or DDoS Attack)</a:t>
            </a:r>
          </a:p>
          <a:p>
            <a:pPr lvl="1"/>
            <a:r>
              <a:rPr lang="en-US" dirty="0"/>
              <a:t>Flow status indicators representing normal or malicious network activity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92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253A-04E7-8E9F-C5BA-D91A7A3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0140E-F3D3-EB4E-0395-8EE595CE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en-US" b="1" dirty="0"/>
              <a:t>Python: </a:t>
            </a:r>
            <a:r>
              <a:rPr lang="en-US" altLang="en-US" dirty="0"/>
              <a:t>Data preprocessing, model experimentation</a:t>
            </a:r>
          </a:p>
          <a:p>
            <a:pPr fontAlgn="base"/>
            <a:r>
              <a:rPr lang="en-US" altLang="en-US" b="1" dirty="0" err="1"/>
              <a:t>Jupyter</a:t>
            </a:r>
            <a:r>
              <a:rPr lang="en-US" altLang="en-US" b="1" dirty="0"/>
              <a:t> Notebook: </a:t>
            </a:r>
            <a:r>
              <a:rPr lang="en-US" altLang="en-US" dirty="0"/>
              <a:t>For model development (</a:t>
            </a:r>
            <a:r>
              <a:rPr lang="en-IN" dirty="0" err="1"/>
              <a:t>model.ipynb</a:t>
            </a:r>
            <a:r>
              <a:rPr lang="en-US" altLang="en-US" dirty="0"/>
              <a:t>)</a:t>
            </a:r>
          </a:p>
          <a:p>
            <a:pPr fontAlgn="base"/>
            <a:r>
              <a:rPr lang="en-US" altLang="en-US" b="1" dirty="0"/>
              <a:t>Machine Learning: </a:t>
            </a:r>
            <a:r>
              <a:rPr lang="en-US" dirty="0"/>
              <a:t>Random Forest, Ada Boosting,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 </a:t>
            </a:r>
            <a:r>
              <a:rPr lang="en-US" altLang="en-US" dirty="0"/>
              <a:t>for predicting network tr</a:t>
            </a:r>
            <a:r>
              <a:rPr lang="en-US" dirty="0"/>
              <a:t>affic flow classification.</a:t>
            </a:r>
          </a:p>
          <a:p>
            <a:pPr fontAlgn="base"/>
            <a:r>
              <a:rPr lang="en-US" altLang="en-US" b="1" dirty="0"/>
              <a:t>Deep Learning: </a:t>
            </a:r>
            <a:r>
              <a:rPr lang="en-US" dirty="0"/>
              <a:t>ANN </a:t>
            </a:r>
            <a:r>
              <a:rPr lang="en-US" altLang="en-US" dirty="0"/>
              <a:t>for predicting network tr</a:t>
            </a:r>
            <a:r>
              <a:rPr lang="en-US" dirty="0"/>
              <a:t>affic flow classification.</a:t>
            </a:r>
            <a:endParaRPr lang="en-US" altLang="en-US" dirty="0"/>
          </a:p>
          <a:p>
            <a:pPr fontAlgn="base"/>
            <a:r>
              <a:rPr lang="en-US" altLang="en-US" b="1" dirty="0"/>
              <a:t>Power BI: </a:t>
            </a:r>
            <a:r>
              <a:rPr lang="en-US" altLang="en-US" dirty="0"/>
              <a:t>Data visualization and interactive dashboard (LA_Crime_Dashboard_from_2020_to_2024.pbix)</a:t>
            </a:r>
          </a:p>
          <a:p>
            <a:pPr fontAlgn="base"/>
            <a:r>
              <a:rPr lang="en-US" altLang="en-US" b="1" dirty="0"/>
              <a:t>Libraries Used: </a:t>
            </a:r>
            <a:r>
              <a:rPr lang="en-US" altLang="en-US" dirty="0"/>
              <a:t>pandas, </a:t>
            </a:r>
            <a:r>
              <a:rPr lang="en-US" altLang="en-US" dirty="0" err="1"/>
              <a:t>numpy</a:t>
            </a:r>
            <a:r>
              <a:rPr lang="en-US" altLang="en-US" dirty="0"/>
              <a:t>, matplotlib, seaborn, scikit-learn, </a:t>
            </a:r>
            <a:r>
              <a:rPr lang="en-US" altLang="en-US" dirty="0" err="1"/>
              <a:t>tensorflow</a:t>
            </a:r>
            <a:r>
              <a:rPr lang="en-US" altLang="en-US" dirty="0"/>
              <a:t>, </a:t>
            </a:r>
            <a:r>
              <a:rPr lang="en-US" altLang="en-US" dirty="0" err="1"/>
              <a:t>XGBoost</a:t>
            </a:r>
            <a:r>
              <a:rPr lang="en-US" altLang="en-US" dirty="0"/>
              <a:t>, </a:t>
            </a:r>
            <a:r>
              <a:rPr lang="en-US" altLang="en-US" dirty="0" err="1"/>
              <a:t>LightGBM</a:t>
            </a:r>
            <a:r>
              <a:rPr lang="en-US" altLang="en-US" dirty="0"/>
              <a:t>, </a:t>
            </a:r>
            <a:r>
              <a:rPr lang="en-US" altLang="en-US" dirty="0" err="1"/>
              <a:t>CatBoost</a:t>
            </a:r>
            <a:r>
              <a:rPr lang="en-US" altLang="en-US" dirty="0"/>
              <a:t>, </a:t>
            </a:r>
            <a:r>
              <a:rPr lang="en-US" altLang="en-US" dirty="0" err="1"/>
              <a:t>cloudpickle</a:t>
            </a:r>
            <a:r>
              <a:rPr lang="en-US" altLang="en-US" dirty="0"/>
              <a:t>, dill</a:t>
            </a:r>
          </a:p>
        </p:txBody>
      </p:sp>
    </p:spTree>
    <p:extLst>
      <p:ext uri="{BB962C8B-B14F-4D97-AF65-F5344CB8AC3E}">
        <p14:creationId xmlns:p14="http://schemas.microsoft.com/office/powerpoint/2010/main" val="383477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214-3F39-6CAF-6C8D-CAAABACE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815D-CB46-4D26-5D25-2CD6D2EFC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2720"/>
            <a:ext cx="8596668" cy="490728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Data Preparation</a:t>
            </a:r>
          </a:p>
          <a:p>
            <a:pPr lvl="1" fontAlgn="base"/>
            <a:r>
              <a:rPr lang="en-US" altLang="en-US" dirty="0"/>
              <a:t>Loaded </a:t>
            </a:r>
            <a:r>
              <a:rPr lang="en-IN" dirty="0"/>
              <a:t>DDos.pcap_ISCX.</a:t>
            </a:r>
            <a:r>
              <a:rPr lang="en-US" dirty="0"/>
              <a:t>csv</a:t>
            </a:r>
            <a:endParaRPr lang="en-US" altLang="en-US" dirty="0"/>
          </a:p>
          <a:p>
            <a:pPr lvl="1" fontAlgn="base"/>
            <a:r>
              <a:rPr lang="en-US" altLang="en-US" dirty="0"/>
              <a:t>Dropped irrelevant data, filtered null values and duplicates.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</a:t>
            </a:r>
            <a:r>
              <a:rPr lang="en-US" altLang="en-US" b="1" dirty="0" err="1"/>
              <a:t>ata</a:t>
            </a:r>
            <a:r>
              <a:rPr lang="en-US" altLang="en-US" b="1" dirty="0"/>
              <a:t> </a:t>
            </a:r>
            <a:r>
              <a:rPr lang="en-IN" b="1" dirty="0"/>
              <a:t>Preprocessing</a:t>
            </a:r>
          </a:p>
          <a:p>
            <a:pPr lvl="1"/>
            <a:r>
              <a:rPr lang="en-US" dirty="0"/>
              <a:t>Encoded categorical variables with </a:t>
            </a:r>
            <a:r>
              <a:rPr lang="en-US" dirty="0" err="1"/>
              <a:t>LabelEncoder</a:t>
            </a:r>
            <a:endParaRPr lang="en-US" dirty="0"/>
          </a:p>
          <a:p>
            <a:pPr lvl="1"/>
            <a:r>
              <a:rPr lang="en-IN" dirty="0"/>
              <a:t>Standardized features with </a:t>
            </a:r>
            <a:r>
              <a:rPr lang="en-IN" dirty="0" err="1"/>
              <a:t>StandardScaler</a:t>
            </a:r>
            <a:endParaRPr lang="en-IN" dirty="0"/>
          </a:p>
          <a:p>
            <a:pPr lvl="1"/>
            <a:r>
              <a:rPr lang="en-US" dirty="0"/>
              <a:t>M</a:t>
            </a:r>
            <a:r>
              <a:rPr lang="en-US" altLang="en-US" dirty="0"/>
              <a:t>ade data pipeline using ColumnTransformer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Modelling and Evaluation</a:t>
            </a:r>
          </a:p>
          <a:p>
            <a:pPr lvl="1"/>
            <a:r>
              <a:rPr lang="en-IN" dirty="0"/>
              <a:t>Split </a:t>
            </a:r>
            <a:r>
              <a:rPr lang="en-US" altLang="en-US" dirty="0"/>
              <a:t>dataset in train and test set</a:t>
            </a:r>
          </a:p>
          <a:p>
            <a:pPr lvl="1"/>
            <a:r>
              <a:rPr lang="en-IN" dirty="0"/>
              <a:t>Tr</a:t>
            </a:r>
            <a:r>
              <a:rPr lang="en-US" altLang="en-US" dirty="0"/>
              <a:t>ained Deep Learning model </a:t>
            </a:r>
            <a:r>
              <a:rPr lang="en-US" dirty="0"/>
              <a:t>ANN </a:t>
            </a:r>
            <a:r>
              <a:rPr lang="en-US" altLang="en-US" dirty="0"/>
              <a:t>and different Machine Learning models like Random Forest, </a:t>
            </a:r>
            <a:r>
              <a:rPr lang="en-US" dirty="0"/>
              <a:t>Ad</a:t>
            </a:r>
            <a:r>
              <a:rPr lang="en-US" altLang="en-US" dirty="0"/>
              <a:t>aBoost, </a:t>
            </a:r>
            <a:r>
              <a:rPr lang="en-US" altLang="en-US" dirty="0" err="1"/>
              <a:t>CatBoost</a:t>
            </a:r>
            <a:r>
              <a:rPr lang="en-US" altLang="en-US" dirty="0"/>
              <a:t> etc.</a:t>
            </a:r>
            <a:endParaRPr lang="en-IN" dirty="0"/>
          </a:p>
          <a:p>
            <a:pPr lvl="1"/>
            <a:r>
              <a:rPr lang="en-US" dirty="0"/>
              <a:t>Evaluated with </a:t>
            </a:r>
            <a:r>
              <a:rPr lang="en-US" altLang="en-US" dirty="0"/>
              <a:t>accuracy, precision, recall, F1-score, confusion </a:t>
            </a:r>
            <a:r>
              <a:rPr lang="en-US" altLang="en-US" dirty="0" err="1"/>
              <a:t>marix</a:t>
            </a:r>
            <a:r>
              <a:rPr lang="en-US" altLang="en-US" dirty="0"/>
              <a:t>, ROC curve and </a:t>
            </a:r>
            <a:r>
              <a:rPr lang="en-US" dirty="0"/>
              <a:t>AUC score.</a:t>
            </a:r>
          </a:p>
          <a:p>
            <a:pPr lvl="1"/>
            <a:r>
              <a:rPr lang="en-US" dirty="0"/>
              <a:t>Selected best model, retrained with full d</a:t>
            </a:r>
            <a:r>
              <a:rPr lang="en-US" altLang="en-US" dirty="0"/>
              <a:t>ataset</a:t>
            </a:r>
            <a:r>
              <a:rPr lang="en-US" dirty="0"/>
              <a:t> and saved the model (</a:t>
            </a:r>
            <a:r>
              <a:rPr lang="en-US" dirty="0" err="1"/>
              <a:t>model.pkl</a:t>
            </a:r>
            <a:r>
              <a:rPr lang="en-US" dirty="0"/>
              <a:t>).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6560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5DC6-875E-8F81-8008-A8858EFA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 Model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C6C7-823A-3D05-2B02-0AC840CD5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64641"/>
            <a:ext cx="8596668" cy="4476722"/>
          </a:xfrm>
        </p:spPr>
        <p:txBody>
          <a:bodyPr/>
          <a:lstStyle/>
          <a:p>
            <a:r>
              <a:rPr lang="en-US" dirty="0"/>
              <a:t>best model is: AdaBoost</a:t>
            </a:r>
          </a:p>
          <a:p>
            <a:r>
              <a:rPr lang="en-US" dirty="0"/>
              <a:t>best parameter is: {'</a:t>
            </a:r>
            <a:r>
              <a:rPr lang="en-US" dirty="0" err="1"/>
              <a:t>learning_rate</a:t>
            </a:r>
            <a:r>
              <a:rPr lang="en-US" dirty="0"/>
              <a:t>': 0.1}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29F67-53C0-C83B-B13D-E5A918E76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8"/>
          <a:stretch>
            <a:fillRect/>
          </a:stretch>
        </p:blipFill>
        <p:spPr>
          <a:xfrm>
            <a:off x="786880" y="2556918"/>
            <a:ext cx="8487122" cy="198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65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26CC-A16C-243A-32A6-1FE5CD97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 Model Performance Comparison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726D6-946E-A054-5C9D-CC4D1F557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613" y="1930400"/>
            <a:ext cx="7095229" cy="47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5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D036-C7EC-FC9D-31E7-5DAFAE2D3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</a:t>
            </a:r>
            <a:r>
              <a:rPr lang="en-US" altLang="en-US" dirty="0"/>
              <a:t>Importance Fe</a:t>
            </a:r>
            <a:r>
              <a:rPr lang="en-US" dirty="0"/>
              <a:t>atures</a:t>
            </a:r>
            <a:r>
              <a:rPr lang="en-US" altLang="en-US" dirty="0"/>
              <a:t> by </a:t>
            </a:r>
            <a:r>
              <a:rPr lang="en-US" dirty="0"/>
              <a:t>AdaBoost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C9FA7C-5B5E-B1D5-09AD-7509540C42F0}"/>
              </a:ext>
            </a:extLst>
          </p:cNvPr>
          <p:cNvSpPr/>
          <p:nvPr/>
        </p:nvSpPr>
        <p:spPr>
          <a:xfrm>
            <a:off x="4571808" y="1300480"/>
            <a:ext cx="640272" cy="1117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C2E17799-10FC-2B84-9E6C-33ADFFF2F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930"/>
          <a:stretch>
            <a:fillRect/>
          </a:stretch>
        </p:blipFill>
        <p:spPr>
          <a:xfrm>
            <a:off x="677334" y="1356360"/>
            <a:ext cx="8811811" cy="416175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CF3552E-65C5-2E9E-BF0C-DB07245E8842}"/>
              </a:ext>
            </a:extLst>
          </p:cNvPr>
          <p:cNvSpPr/>
          <p:nvPr/>
        </p:nvSpPr>
        <p:spPr>
          <a:xfrm>
            <a:off x="4336954" y="1320800"/>
            <a:ext cx="105664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9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F897-DF03-CDD3-5ECA-E91A14C7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8A163-38C7-1794-2007-E1FC007C2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297383"/>
            <a:ext cx="4185623" cy="576262"/>
          </a:xfrm>
        </p:spPr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58420C-AD83-CC14-81E0-0D76ECB012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45" y="2149025"/>
            <a:ext cx="4184650" cy="30899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E069C-D39B-A817-B27D-F244FA929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297383"/>
            <a:ext cx="4185618" cy="576262"/>
          </a:xfrm>
        </p:spPr>
        <p:txBody>
          <a:bodyPr/>
          <a:lstStyle/>
          <a:p>
            <a:r>
              <a:rPr lang="en-US" dirty="0"/>
              <a:t>Deep Le</a:t>
            </a:r>
            <a:r>
              <a:rPr lang="en-US" altLang="en-US" dirty="0"/>
              <a:t>arning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502A8D4-FA5A-C88A-588E-8C16700BC1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83" y="2149025"/>
            <a:ext cx="4186237" cy="283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74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74B4-D133-1514-7266-737DFEE5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F275-1126-38C2-3873-5747D159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6D50C-653E-FEA7-DACE-71C100272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297383"/>
            <a:ext cx="4185623" cy="576262"/>
          </a:xfrm>
        </p:spPr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EA26C-EC01-6089-98A0-DE29D6887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297383"/>
            <a:ext cx="4185618" cy="576262"/>
          </a:xfrm>
        </p:spPr>
        <p:txBody>
          <a:bodyPr/>
          <a:lstStyle/>
          <a:p>
            <a:r>
              <a:rPr lang="en-US" dirty="0"/>
              <a:t>Deep Le</a:t>
            </a:r>
            <a:r>
              <a:rPr lang="en-US" altLang="en-US" dirty="0"/>
              <a:t>arning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8B118-7A5A-1E68-E702-7635BCB52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930401"/>
            <a:ext cx="4185623" cy="4110962"/>
          </a:xfrm>
        </p:spPr>
        <p:txBody>
          <a:bodyPr/>
          <a:lstStyle/>
          <a:p>
            <a:r>
              <a:rPr lang="en-IN" dirty="0"/>
              <a:t>True Values: 44579</a:t>
            </a:r>
          </a:p>
          <a:p>
            <a:r>
              <a:rPr lang="en-IN" dirty="0"/>
              <a:t>Fake Values: 37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D16DB6-2E79-983F-B05D-AAC4D325A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930401"/>
            <a:ext cx="4185617" cy="4110962"/>
          </a:xfrm>
        </p:spPr>
        <p:txBody>
          <a:bodyPr/>
          <a:lstStyle/>
          <a:p>
            <a:r>
              <a:rPr lang="en-IN" dirty="0"/>
              <a:t>True Values: 44375</a:t>
            </a:r>
          </a:p>
          <a:p>
            <a:r>
              <a:rPr lang="en-IN" dirty="0"/>
              <a:t>Fake Values: 241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AFB58D1-EA10-8C2B-0819-E2C025DA9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44" y="2736187"/>
            <a:ext cx="4106968" cy="3305175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C73600-C6A4-946D-DB99-639CBCEB9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383" y="2736188"/>
            <a:ext cx="4106968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81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3749-6725-2B72-C85E-A48AD8E64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2AEB-5FD3-47AF-8B75-9B6B39D4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and AUC Score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6E9BD-56C8-EED2-BEAE-96F2453D0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297383"/>
            <a:ext cx="4185623" cy="576262"/>
          </a:xfrm>
        </p:spPr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45E08-C12F-78B7-80D3-380A1D7AE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297383"/>
            <a:ext cx="4185618" cy="576262"/>
          </a:xfrm>
        </p:spPr>
        <p:txBody>
          <a:bodyPr/>
          <a:lstStyle/>
          <a:p>
            <a:r>
              <a:rPr lang="en-US" dirty="0"/>
              <a:t>Deep Le</a:t>
            </a:r>
            <a:r>
              <a:rPr lang="en-US" altLang="en-US" dirty="0"/>
              <a:t>arning</a:t>
            </a:r>
            <a:endParaRPr lang="en-IN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D281814-7048-FC61-1AC9-85E4344C6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930401"/>
            <a:ext cx="4185623" cy="4110962"/>
          </a:xfrm>
        </p:spPr>
        <p:txBody>
          <a:bodyPr/>
          <a:lstStyle/>
          <a:p>
            <a:r>
              <a:rPr lang="en-IN" dirty="0"/>
              <a:t>AUC Score: 0.6272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2BFDC0F-3B29-822F-92D3-459710A73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930401"/>
            <a:ext cx="4185617" cy="4110962"/>
          </a:xfrm>
        </p:spPr>
        <p:txBody>
          <a:bodyPr/>
          <a:lstStyle/>
          <a:p>
            <a:r>
              <a:rPr lang="en-IN" dirty="0"/>
              <a:t>AUC Score: 0.993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87AD62-376D-2EAA-8012-A31D341C1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70" y="2618183"/>
            <a:ext cx="4118756" cy="3305175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4E5EA2-1C0B-DCDF-54EA-E8999E937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726" y="2618183"/>
            <a:ext cx="4118756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4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569C7-12A8-9A4C-73BE-4DA794A0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7035-77E7-AEAC-CD9B-EFFD2B877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</a:t>
            </a:r>
            <a:r>
              <a:rPr lang="en-US" altLang="en-US" dirty="0"/>
              <a:t>and Underfitting Comparison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8D7DD-63AC-7B1A-2CC6-0355115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297383"/>
            <a:ext cx="4185623" cy="576262"/>
          </a:xfrm>
        </p:spPr>
        <p:txBody>
          <a:bodyPr/>
          <a:lstStyle/>
          <a:p>
            <a:r>
              <a:rPr lang="en-US" dirty="0"/>
              <a:t>M</a:t>
            </a:r>
            <a:r>
              <a:rPr lang="en-US" altLang="en-US" dirty="0"/>
              <a:t>achine Learning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ACBFC-E966-D93D-5A83-4992728D2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297383"/>
            <a:ext cx="4185618" cy="576262"/>
          </a:xfrm>
        </p:spPr>
        <p:txBody>
          <a:bodyPr/>
          <a:lstStyle/>
          <a:p>
            <a:r>
              <a:rPr lang="en-US" dirty="0"/>
              <a:t>Deep Le</a:t>
            </a:r>
            <a:r>
              <a:rPr lang="en-US" altLang="en-US" dirty="0"/>
              <a:t>arning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0D0C98E-CC74-F535-5FB8-8A613E1D5E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6101" y="2077632"/>
            <a:ext cx="4184650" cy="2949181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AA42B34-3D1D-C0D6-C789-21E1CCAC94E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87764" y="2120089"/>
            <a:ext cx="4186237" cy="28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6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48A9-F732-10B5-D258-F94C7E5EB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502E-7063-FF4A-E785-37C2EB128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3840"/>
            <a:ext cx="8596668" cy="50393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Performed comprehensive data cleaning and preprocessing on the network traffic flow dataset to ensure accuracy, consistency, and reliability of intrusion detection analysis</a:t>
            </a:r>
          </a:p>
          <a:p>
            <a:r>
              <a:rPr lang="en-US" dirty="0"/>
              <a:t>Engineered advanced statistical and traffic-based features to effectively distinguish between benign and malicious network behavior</a:t>
            </a:r>
          </a:p>
          <a:p>
            <a:r>
              <a:rPr lang="en-US" dirty="0"/>
              <a:t>Applied multiple supervised machine learning algorithms including Decision Tree, Random Forest, Extra Trees, and </a:t>
            </a:r>
            <a:r>
              <a:rPr lang="en-US" dirty="0" err="1"/>
              <a:t>XGBoost</a:t>
            </a:r>
            <a:r>
              <a:rPr lang="en-US" dirty="0"/>
              <a:t> to classify normal and attack traffic</a:t>
            </a:r>
          </a:p>
          <a:p>
            <a:r>
              <a:rPr lang="en-US" dirty="0"/>
              <a:t>Addressed class imbalance using resampling techniques to enhance detection of minority attack classes and reduce false negatives</a:t>
            </a:r>
          </a:p>
          <a:p>
            <a:r>
              <a:rPr lang="en-US" dirty="0"/>
              <a:t>Evaluated model performance using accuracy, precision, recall, F1-score, and ROC-AUC, and implemented ensemble learning to further improve detection robustness</a:t>
            </a:r>
          </a:p>
          <a:p>
            <a:r>
              <a:rPr lang="en-US" dirty="0"/>
              <a:t>Developed an interactive Power BI dashboard to visualize traffic distribution, attack patterns, model performance metrics, and key security insights for stakeholders</a:t>
            </a:r>
          </a:p>
          <a:p>
            <a:r>
              <a:rPr lang="en-US" dirty="0"/>
              <a:t>The project demonstrates how machine learning, ensemble modeling, and interactive data visualization can significantly improve intrusion detection accuracy, optimize security resource allocation, and strengthen an organization’s overall cybersecurity posture</a:t>
            </a:r>
          </a:p>
        </p:txBody>
      </p:sp>
    </p:spTree>
    <p:extLst>
      <p:ext uri="{BB962C8B-B14F-4D97-AF65-F5344CB8AC3E}">
        <p14:creationId xmlns:p14="http://schemas.microsoft.com/office/powerpoint/2010/main" val="128049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B0BC-6CA8-CAED-01A5-72075554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35C9-B2EB-7341-B784-30D969B7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4161"/>
            <a:ext cx="8596668" cy="4507202"/>
          </a:xfrm>
        </p:spPr>
        <p:txBody>
          <a:bodyPr>
            <a:normAutofit/>
          </a:bodyPr>
          <a:lstStyle/>
          <a:p>
            <a:r>
              <a:rPr lang="en-US" dirty="0"/>
              <a:t>Extend the dataset with real-time or streaming network traffic data to enable continuous intrusion monitoring and live threat detection</a:t>
            </a:r>
          </a:p>
          <a:p>
            <a:r>
              <a:rPr lang="en-US" dirty="0"/>
              <a:t>Apply advanced deep learning techniques such as LSTM, GRU, and Transformer-based models to capture sequential and temporal attack patterns</a:t>
            </a:r>
          </a:p>
          <a:p>
            <a:r>
              <a:rPr lang="en-US" dirty="0"/>
              <a:t>Integrate anomaly detection methods (Autoencoders, Isolation Forest) to detect zero-day and previously unseen cyber attacks</a:t>
            </a:r>
          </a:p>
          <a:p>
            <a:r>
              <a:rPr lang="en-US" dirty="0"/>
              <a:t>Incorporate advanced explainability techniques such as SHAP or LIME to improve model transparency and support security analysts in decision-making</a:t>
            </a:r>
          </a:p>
          <a:p>
            <a:r>
              <a:rPr lang="en-US" dirty="0"/>
              <a:t>Deploy the solution as a real-time intrusion detection system (IDS) using Flask/</a:t>
            </a:r>
            <a:r>
              <a:rPr lang="en-US" dirty="0" err="1"/>
              <a:t>FastAPI</a:t>
            </a:r>
            <a:r>
              <a:rPr lang="en-US" dirty="0"/>
              <a:t> with dashboard integration for live monitoring</a:t>
            </a:r>
          </a:p>
          <a:p>
            <a:r>
              <a:rPr lang="en-US" dirty="0"/>
              <a:t>Adapt and scale the framework for enterprise-level networks, cloud environments, and IoT ecosystems to strengthen large-scale cybersecurity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9404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7662-CB75-1BD8-C3CE-A221C62E0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51DC-9BEF-8257-D448-56740B438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23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Please give me feedback of my project.</a:t>
            </a:r>
          </a:p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Your feedback will encourage and motivate me.</a:t>
            </a:r>
          </a:p>
          <a:p>
            <a:pPr marL="0" indent="0">
              <a:buNone/>
            </a:pPr>
            <a:br>
              <a:rPr lang="en-US" dirty="0">
                <a:cs typeface="Times New Roman" pitchFamily="18" charset="0"/>
              </a:rPr>
            </a:br>
            <a:r>
              <a:rPr lang="en-US" dirty="0">
                <a:cs typeface="Times New Roman" pitchFamily="18" charset="0"/>
                <a:hlinkClick r:id="rId2"/>
              </a:rPr>
              <a:t>Click here for feedback form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A3430-1023-5757-C039-F36CEC6A4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72" y="2957625"/>
            <a:ext cx="2972215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37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022644-6A63-675E-AF52-46224A44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4" y="2486660"/>
            <a:ext cx="8596668" cy="188468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		</a:t>
            </a:r>
            <a:br>
              <a:rPr lang="en-US" sz="5400" dirty="0"/>
            </a:br>
            <a:r>
              <a:rPr lang="en-US" sz="5400" dirty="0"/>
              <a:t>		you..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83893601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291</TotalTime>
  <Words>847</Words>
  <Application>Microsoft Office PowerPoint</Application>
  <PresentationFormat>Widescreen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Times New Roman</vt:lpstr>
      <vt:lpstr>Trebuchet MS</vt:lpstr>
      <vt:lpstr>Wingdings</vt:lpstr>
      <vt:lpstr>Wingdings 3</vt:lpstr>
      <vt:lpstr>Facet</vt:lpstr>
      <vt:lpstr>Network Traffic Flow Classification</vt:lpstr>
      <vt:lpstr>Index</vt:lpstr>
      <vt:lpstr>Objective</vt:lpstr>
      <vt:lpstr>Data Source</vt:lpstr>
      <vt:lpstr>Technologies used</vt:lpstr>
      <vt:lpstr>Methodology</vt:lpstr>
      <vt:lpstr>Machine Learning Model Performance</vt:lpstr>
      <vt:lpstr>Machine Learning Model Performance Comparison</vt:lpstr>
      <vt:lpstr>Most Importance Features by AdaBoost</vt:lpstr>
      <vt:lpstr>Model Performance</vt:lpstr>
      <vt:lpstr>Confusion Matrix</vt:lpstr>
      <vt:lpstr>ROC Curve and AUC Score</vt:lpstr>
      <vt:lpstr>Overfitting and Underfitting Comparison</vt:lpstr>
      <vt:lpstr>Conclusion </vt:lpstr>
      <vt:lpstr>Future Scope</vt:lpstr>
      <vt:lpstr>Feedback</vt:lpstr>
      <vt:lpstr>Thank     you..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Shooting Cluster Analysis</dc:title>
  <dc:creator>Pritam Das</dc:creator>
  <cp:lastModifiedBy>Pritam Das</cp:lastModifiedBy>
  <cp:revision>8</cp:revision>
  <dcterms:created xsi:type="dcterms:W3CDTF">2025-09-26T14:10:59Z</dcterms:created>
  <dcterms:modified xsi:type="dcterms:W3CDTF">2026-02-20T07:57:29Z</dcterms:modified>
</cp:coreProperties>
</file>